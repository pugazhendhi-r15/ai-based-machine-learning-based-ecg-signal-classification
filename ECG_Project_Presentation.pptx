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AI-Based ECG Signal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Machine learning for selected ECG heartbeat categories</a:t>
            </a:r>
          </a:p>
          <a:p>
            <a:pPr>
              <a:spcAft>
                <a:spcPts val="1600"/>
              </a:spcAft>
              <a:defRPr sz="2200"/>
            </a:pPr>
            <a:r>
              <a:t>Educational capstone prototype</a:t>
            </a:r>
          </a:p>
          <a:p>
            <a:pPr>
              <a:spcAft>
                <a:spcPts val="1600"/>
              </a:spcAft>
              <a:defRPr sz="2200"/>
            </a:pPr>
            <a:r>
              <a:t>Student name | Department | Institution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/>
            </a:pPr>
            <a:r>
              <a:t>ECG recordings contain repeated electrical patterns of the heart.</a:t>
            </a:r>
          </a:p>
          <a:p>
            <a:pPr>
              <a:spcAft>
                <a:spcPts val="1600"/>
              </a:spcAft>
              <a:defRPr sz="2200"/>
            </a:pPr>
            <a:r>
              <a:t>The goal is to classify selected labelled heartbeat segments.</a:t>
            </a:r>
          </a:p>
          <a:p>
            <a:pPr>
              <a:spcAft>
                <a:spcPts val="1600"/>
              </a:spcAft>
              <a:defRPr sz="2200"/>
            </a:pPr>
            <a:r>
              <a:t>The output is a research prediction, not a medical diagnosis.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/>
            </a:pPr>
            <a:r>
              <a:t>Load a public labelled ECG dataset.</a:t>
            </a:r>
          </a:p>
          <a:p>
            <a:pPr>
              <a:spcAft>
                <a:spcPts val="1600"/>
              </a:spcAft>
              <a:defRPr sz="1900"/>
            </a:pPr>
            <a:r>
              <a:t>Filter and visualize ECG signals.</a:t>
            </a:r>
          </a:p>
          <a:p>
            <a:pPr>
              <a:spcAft>
                <a:spcPts val="1600"/>
              </a:spcAft>
              <a:defRPr sz="1900"/>
            </a:pPr>
            <a:r>
              <a:t>Extract heartbeat segments and numerical features.</a:t>
            </a:r>
          </a:p>
          <a:p>
            <a:pPr>
              <a:spcAft>
                <a:spcPts val="1600"/>
              </a:spcAft>
              <a:defRPr sz="1900"/>
            </a:pPr>
            <a:r>
              <a:t>Train and compare Random Forest and SVM.</a:t>
            </a:r>
          </a:p>
          <a:p>
            <a:pPr>
              <a:spcAft>
                <a:spcPts val="1600"/>
              </a:spcAft>
              <a:defRPr sz="1900"/>
            </a:pPr>
            <a:r>
              <a:t>Evaluate results and display them in a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ECG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/>
            </a:pPr>
            <a:r>
              <a:t>P wave: associated with atrial depolarization.</a:t>
            </a:r>
          </a:p>
          <a:p>
            <a:pPr>
              <a:spcAft>
                <a:spcPts val="1600"/>
              </a:spcAft>
              <a:defRPr sz="1900"/>
            </a:pPr>
            <a:r>
              <a:t>QRS complex: represents ventricular depolarization.</a:t>
            </a:r>
          </a:p>
          <a:p>
            <a:pPr>
              <a:spcAft>
                <a:spcPts val="1600"/>
              </a:spcAft>
              <a:defRPr sz="1900"/>
            </a:pPr>
            <a:r>
              <a:t>T wave: represents ventricular repolarization.</a:t>
            </a:r>
          </a:p>
          <a:p>
            <a:pPr>
              <a:spcAft>
                <a:spcPts val="1600"/>
              </a:spcAft>
              <a:defRPr sz="1900"/>
            </a:pPr>
            <a:r>
              <a:t>ECG interpretation requires clinical expertise; this project is not diagnostic.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Dataset and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/>
            </a:pPr>
            <a:r>
              <a:t>Dataset: MIT-BIH Arrhythmia Database from PhysioNet.</a:t>
            </a:r>
          </a:p>
          <a:p>
            <a:pPr>
              <a:spcAft>
                <a:spcPts val="1600"/>
              </a:spcAft>
              <a:defRPr sz="1900"/>
            </a:pPr>
            <a:r>
              <a:t>WFDB reads recordings and expert annotations.</a:t>
            </a:r>
          </a:p>
          <a:p>
            <a:pPr>
              <a:spcAft>
                <a:spcPts val="1600"/>
              </a:spcAft>
              <a:defRPr sz="1900"/>
            </a:pPr>
            <a:r>
              <a:t>Simplified groups: N (normal group), S (supraventricular ectopic), V (ventricular ectopic).</a:t>
            </a:r>
          </a:p>
          <a:p>
            <a:pPr>
              <a:spcAft>
                <a:spcPts val="1600"/>
              </a:spcAft>
              <a:defRPr sz="1900"/>
            </a:pPr>
            <a:r>
              <a:t>The exact annotation mapping must be checked and documented.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/>
            </a:pPr>
            <a:r>
              <a:t>ECG records + annotations</a:t>
            </a:r>
          </a:p>
          <a:p>
            <a:pPr>
              <a:spcAft>
                <a:spcPts val="1600"/>
              </a:spcAft>
              <a:defRPr sz="1900"/>
            </a:pPr>
            <a:r>
              <a:t>↓ Filtering → heartbeat segmentation → feature extraction</a:t>
            </a:r>
          </a:p>
          <a:p>
            <a:pPr>
              <a:spcAft>
                <a:spcPts val="1600"/>
              </a:spcAft>
              <a:defRPr sz="1900"/>
            </a:pPr>
            <a:r>
              <a:t>↓ Train/test split → Random Forest and SVM</a:t>
            </a:r>
          </a:p>
          <a:p>
            <a:pPr>
              <a:spcAft>
                <a:spcPts val="1600"/>
              </a:spcAft>
              <a:defRPr sz="1900"/>
            </a:pPr>
            <a:r>
              <a:t>↓ Evaluation → saved model → Streamlit dashboard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Preprocessing and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/>
            </a:pPr>
            <a:r>
              <a:t>Butterworth bandpass filter reduces selected unwanted frequencies.</a:t>
            </a:r>
          </a:p>
          <a:p>
            <a:pPr>
              <a:spcAft>
                <a:spcPts val="1600"/>
              </a:spcAft>
              <a:defRPr sz="1900"/>
            </a:pPr>
            <a:r>
              <a:t>Fixed windows are extracted around reference annotations.</a:t>
            </a:r>
          </a:p>
          <a:p>
            <a:pPr>
              <a:spcAft>
                <a:spcPts val="1600"/>
              </a:spcAft>
              <a:defRPr sz="1900"/>
            </a:pPr>
            <a:r>
              <a:t>Features: mean, standard deviation, min/max, median, quartiles, peak position, energy, mean absolute difference.</a:t>
            </a:r>
          </a:p>
          <a:p>
            <a:pPr>
              <a:spcAft>
                <a:spcPts val="1600"/>
              </a:spcAft>
              <a:defRPr sz="1900"/>
            </a:pPr>
            <a:r>
              <a:t>The same preprocessing and feature steps must be used at prediction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Models and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/>
            </a:pPr>
            <a:r>
              <a:t>Random Forest: ensemble of decision trees.</a:t>
            </a:r>
          </a:p>
          <a:p>
            <a:pPr>
              <a:spcAft>
                <a:spcPts val="1600"/>
              </a:spcAft>
              <a:defRPr sz="1900"/>
            </a:pPr>
            <a:r>
              <a:t>SVM: separates classes using a learned decision boundary.</a:t>
            </a:r>
          </a:p>
          <a:p>
            <a:pPr>
              <a:spcAft>
                <a:spcPts val="1600"/>
              </a:spcAft>
              <a:defRPr sz="1900"/>
            </a:pPr>
            <a:r>
              <a:t>Metrics: accuracy, per-class precision, recall, F1-score, macro-F1.</a:t>
            </a:r>
          </a:p>
          <a:p>
            <a:pPr>
              <a:spcAft>
                <a:spcPts val="1600"/>
              </a:spcAft>
              <a:defRPr sz="1900"/>
            </a:pPr>
            <a:r>
              <a:t>Use a confusion matrix to inspect class-wise errors.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Dashboard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/>
            </a:pPr>
            <a:r>
              <a:t>Choose an ECG record.</a:t>
            </a:r>
          </a:p>
          <a:p>
            <a:pPr>
              <a:spcAft>
                <a:spcPts val="1600"/>
              </a:spcAft>
              <a:defRPr sz="1900"/>
            </a:pPr>
            <a:r>
              <a:t>Display the waveform and a heartbeat segment.</a:t>
            </a:r>
          </a:p>
          <a:p>
            <a:pPr>
              <a:spcAft>
                <a:spcPts val="1600"/>
              </a:spcAft>
              <a:defRPr sz="1900"/>
            </a:pPr>
            <a:r>
              <a:t>Show the predicted class and the reference annotation.</a:t>
            </a:r>
          </a:p>
          <a:p>
            <a:pPr>
              <a:spcAft>
                <a:spcPts val="1600"/>
              </a:spcAft>
              <a:defRPr sz="1900"/>
            </a:pPr>
            <a:r>
              <a:t>Display model metrics and confusion matrix after training.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Conclusion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/>
            </a:pPr>
            <a:r>
              <a:t>Demonstrates an end-to-end signal-processing and ML workflow.</a:t>
            </a:r>
          </a:p>
          <a:p>
            <a:pPr>
              <a:spcAft>
                <a:spcPts val="1600"/>
              </a:spcAft>
              <a:defRPr sz="1900"/>
            </a:pPr>
            <a:r>
              <a:t>The starter implementation uses a beat-level split, which can overestimate performance.</a:t>
            </a:r>
          </a:p>
          <a:p>
            <a:pPr>
              <a:spcAft>
                <a:spcPts val="1600"/>
              </a:spcAft>
              <a:defRPr sz="1900"/>
            </a:pPr>
            <a:r>
              <a:t>Improve final evaluation with recording-wise/patient-wise splitting.</a:t>
            </a:r>
          </a:p>
          <a:p>
            <a:pPr>
              <a:spcAft>
                <a:spcPts val="1600"/>
              </a:spcAft>
              <a:defRPr sz="1900"/>
            </a:pPr>
            <a:r>
              <a:t>Not clinically validated; never use for patient-care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